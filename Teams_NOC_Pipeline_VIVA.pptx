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PROACTIVE NETWORK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AE9FF"/>
                </a:solidFill>
                <a:latin typeface="Calibri"/>
              </a:rPr>
              <a:t>Forecasting Jitter, Packet Loss &amp; Latency for Optimal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Data Source :  Microsoft Teams Graph API  (Mock — enterprise licence cost avoided)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97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Model       :  CNN-LSTM with Attention  |  Unified Multivariate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Pipeline    :  NiFi → Prometheus → Redis → NOC Alerts → Grafana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Maheshwaran K   |   2024HT66029   |   MTech Cloud Computing and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77639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Supervisor: Rajendra K   |   BITS Pilani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Simple explanation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The Big Idea —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 watch Microsoft Teams call quality every 5 minutes, learn its patterns using a deep learning model, and WARN the network team BEFORE the call quality goes bad — not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269748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😟  TODAY
(Reactive)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User complains → Team checks → Fix happens
Users already affected. Too late.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148840"/>
            <a:ext cx="269748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😊  OUR SYSTEM
(Proactive)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Model predicts spike → Warning sent → Team acts
Users never affected. Problem prevented.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48840"/>
            <a:ext cx="269748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🎯  HOW WE DO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CNN-LSTM model learns 14 days of Teams
call data and forecasts 2 hours ahead.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Why does this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0A3D6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TODAY — REACTIVE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Issues detected AFTER users complain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Downtime &amp; SLA breaches before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5117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No early warning for spikes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181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Each metric monitored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85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NOC team always playing catch-up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777240"/>
            <a:ext cx="4160520" cy="411480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8686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THIS PROJECT — PROACTIVE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Forecast degradation BEFORE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842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CNN-LSTM predicts all 3 KPIs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5117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Early WARNING sent to NOC engineers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181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Automated Warning → Alert → OK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85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Redis stores spikes for fast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The 3 KPIs we monitor: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92040"/>
            <a:ext cx="2743200" cy="292608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91032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Jitter: Choppy audio in calls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892040"/>
            <a:ext cx="2743200" cy="292608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39" y="491032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  <a:latin typeface="Calibri"/>
              </a:rPr>
              <a:t>Packet Loss: Missing words / frozen video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892040"/>
            <a:ext cx="2743200" cy="292608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91032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Latency: Conversation delay / lag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How all the pieces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MS Teams
Graph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Call metrics
every 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3624" y="1540764"/>
            <a:ext cx="10058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73352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  <a:latin typeface="Calibri"/>
              </a:rPr>
              <a:t>Apache
NiFi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Triggers
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6936" y="1540764"/>
            <a:ext cx="10058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26664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E07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7C24"/>
                </a:solidFill>
                <a:latin typeface="Calibri"/>
              </a:rPr>
              <a:t>Prometheus
Time Series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14 days
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540764"/>
            <a:ext cx="10058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5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5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9B6"/>
                </a:solidFill>
                <a:latin typeface="Calibri"/>
              </a:rPr>
              <a:t>CNN-LSTM
+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5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Forecast
next 2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59" y="1540764"/>
            <a:ext cx="10058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33288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7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6B"/>
                </a:solidFill>
                <a:latin typeface="Calibri"/>
              </a:rPr>
              <a:t>Spike
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7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5 methods
check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6871" y="1540764"/>
            <a:ext cx="10058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914400"/>
            <a:ext cx="1234440" cy="132588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100584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Calibri"/>
              </a:rPr>
              <a:t>NOC Alert
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572768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Warn/Alert
/OK 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2316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487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Supporting Components: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97480"/>
            <a:ext cx="2057400" cy="2103120"/>
          </a:xfrm>
          <a:prstGeom prst="rect">
            <a:avLst/>
          </a:prstGeom>
          <a:solidFill>
            <a:srgbClr val="0A3D62"/>
          </a:solidFill>
          <a:ln w="12700">
            <a:solidFill>
              <a:srgbClr val="DC3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7889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382D"/>
                </a:solidFill>
                <a:latin typeface="Calibri"/>
              </a:rPr>
              <a:t>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3246120"/>
            <a:ext cx="18745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Stores forecasted
spike data
(instant retrieval)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32888" y="2697480"/>
            <a:ext cx="2057400" cy="2103120"/>
          </a:xfrm>
          <a:prstGeom prst="rect">
            <a:avLst/>
          </a:prstGeom>
          <a:solidFill>
            <a:srgbClr val="0A3D62"/>
          </a:solidFill>
          <a:ln w="12700">
            <a:solidFill>
              <a:srgbClr val="F46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4328" y="27889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6D22"/>
                </a:solidFill>
                <a:latin typeface="Calibri"/>
              </a:rPr>
              <a:t>Grafana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4328" y="3246120"/>
            <a:ext cx="18745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Visualises 14-day
jitter/loss/latency
trend dashboards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45736" y="2697480"/>
            <a:ext cx="2057400" cy="21031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7175" y="27889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Mock
Teams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7175" y="3246120"/>
            <a:ext cx="18745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Simulates real
MS Teams Graph API
(no licence needed)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3" y="2697480"/>
            <a:ext cx="2057400" cy="2103120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0023" y="27889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  <a:latin typeface="Calibri"/>
              </a:rPr>
              <a:t>5 Spike
Detectors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0023" y="3246120"/>
            <a:ext cx="18745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Z-Score · IQR
Isolation Forest
Rolling · Ruptures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Architecture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What each part actually does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813815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772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7680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MS Teams Graph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749808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Every 5 minutes, we ask Microsoft Teams: 'How were your calls?'
It gives back Jitter, Packet Loss and Latency for every call.
In demo: Mock API generates same data (real API needs expensive Azure licence).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8503920" cy="9144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1472184"/>
            <a:ext cx="347472" cy="34747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3560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4264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Apache NiFi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408176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Think of NiFi as an alarm clock. It wakes up every 5 minutes
and says 'Go fetch the latest Teams data now!' It triggers our Python script.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9967"/>
            <a:ext cx="8503920" cy="9144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2130551"/>
            <a:ext cx="347472" cy="347472"/>
          </a:xfrm>
          <a:prstGeom prst="ellipse">
            <a:avLst/>
          </a:prstGeom>
          <a:solidFill>
            <a:srgbClr val="E0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3975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08483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C24"/>
                </a:solidFill>
                <a:latin typeface="Calibri"/>
              </a:rPr>
              <a:t>Prometheus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066543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All the data we collect gets stored here — like a diary of your network.
It keeps 14 days of history. Our model reads this diary to learn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88335"/>
            <a:ext cx="8503920" cy="9144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0040" y="2788920"/>
            <a:ext cx="347472" cy="347472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7523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7432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Calibri"/>
              </a:rPr>
              <a:t>CNN-LSTM + Attention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724912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This is the brain. It reads the last 2 days of data and asks:
'Based on what happened before, what will happen in the next 2 hours?'
CNN finds short patterns. LSTM remembers long history. Attention focuses on what matters.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46704"/>
            <a:ext cx="8503920" cy="9144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0040" y="3447287"/>
            <a:ext cx="347472" cy="34747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1071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4015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Spike Detection (5 methods)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83279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Five different algorithms check if the forecast shows a problem coming.
Z-Score, IQR, Isolation Forest, Rolling Stats, Ruptures — all run together.
If ANY of them says 'spike incoming' — we alert. More methods = fewer missed alerts.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005072"/>
            <a:ext cx="8503920" cy="9144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0040" y="4105656"/>
            <a:ext cx="347472" cy="34747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06908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059935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NOC Alert: Warning → Alerting → 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041648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WARNING: Model predicts spike in next 2 hours → Email to NOC team to prepare.
ALERTING: Real data confirms spike is happening now → Urgent email, take action.
OK: Spike gone, network normal again → Email confirms all clear, incident closed.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CNN-LSTM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How the forecasting brain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E9FF"/>
                </a:solidFill>
                <a:latin typeface="Calibri"/>
              </a:rPr>
              <a:t>Think of it like a weather forecast — but for your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46304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463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C4D8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057400"/>
            <a:ext cx="1316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576 time steps
(last 2 days of
Jitter, Loss, Latency)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2514600"/>
            <a:ext cx="146304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5960" y="1280160"/>
            <a:ext cx="146304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79" y="1463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CNN
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2057400"/>
            <a:ext cx="1316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Finds SHORT patterns
like a spike 30 min ago
or daily peak traffic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2514600"/>
            <a:ext cx="146304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1280160"/>
            <a:ext cx="146304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463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9B6"/>
                </a:solidFill>
                <a:latin typeface="Calibri"/>
              </a:rPr>
              <a:t>LSTM
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057400"/>
            <a:ext cx="1316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Remembers LONG history
like 'every Monday 6pm
network always slows'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2514600"/>
            <a:ext cx="146304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1280160"/>
            <a:ext cx="146304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463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057400"/>
            <a:ext cx="1316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Focuses on the
MOST IMPORTANT
moments in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9127" y="2514600"/>
            <a:ext cx="146304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1280160"/>
            <a:ext cx="1463040" cy="256032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63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057400"/>
            <a:ext cx="1316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Forecasts next 24
time steps = 2 hrs
Jitter + Loss +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005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  <a:latin typeface="Calibri"/>
              </a:rPr>
              <a:t>Why unified multivariate?  →  One model forecasts ALL 3 metrics together, capturing how Jitter, Loss &amp; Latency affect each 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4622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Training: 50 epochs · Batch: 64 · Loss: MSE · Input: 576 steps · Output: 24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Proactive Alert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The 3-stage NOC notification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E9FF"/>
                </a:solidFill>
                <a:latin typeface="Calibri"/>
              </a:rPr>
              <a:t>Traditional system: User complains → NOC reacts  |  Our system: Model predicts → NOC acts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2788920" cy="3703320"/>
          </a:xfrm>
          <a:prstGeom prst="rect">
            <a:avLst/>
          </a:prstGeom>
          <a:solidFill>
            <a:srgbClr val="0A3D62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34440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⚠ 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64208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WHEN: CNN-LSTM forecasts a spike
2 hours before it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8600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Jitter predicted: 35ms (normal: 8ms)
Loss predicted: 2.1% (normal: 0.5%)
Latency predicted: 190ms (normal: 45ms)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15468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E9FF"/>
                </a:solidFill>
                <a:latin typeface="Calibri"/>
              </a:rPr>
              <a:t>NOC team gets early warning.
They have 2 hours to investigate
and prevent the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170432"/>
            <a:ext cx="2788920" cy="3703320"/>
          </a:xfrm>
          <a:prstGeom prst="rect">
            <a:avLst/>
          </a:prstGeom>
          <a:solidFill>
            <a:srgbClr val="0A3D6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234440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Calibri"/>
              </a:rPr>
              <a:t>🚨  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1664208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WHEN: Real-time data confirms
the spike is actually happening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28600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Jitter actual: 35.90ms  ⚠
Loss actual: 2.09%  ⚠
Latency actual: 192ms  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315468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E9FF"/>
                </a:solidFill>
                <a:latin typeface="Calibri"/>
              </a:rPr>
              <a:t>NOC team confirms the issue.
Because of WARNING they are
already prepared and acting.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170432"/>
            <a:ext cx="2788920" cy="370332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234440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✅ 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664208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WHEN: Spike subsides and
network returns to 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28600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Jitter back: 6.80ms  ✓
Loss back: 0.31%  ✓
Latency back: 29ms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15468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E9FF"/>
                </a:solidFill>
                <a:latin typeface="Calibri"/>
              </a:rPr>
              <a:t>Incident closed automatically.
All stakeholders notified.
No manual update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  <a:latin typeface="Calibri"/>
              </a:rPr>
              <a:t>Key advantage: Zero repeated alerts during ongoing spikes — flag-based deduplication prevents NOC fatigue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How accurate is our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Forecast Accuracy (RMSE · MAE · MAPE)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600200" cy="347472"/>
          </a:xfrm>
          <a:prstGeom prst="rect">
            <a:avLst/>
          </a:prstGeom>
          <a:solidFill>
            <a:srgbClr val="0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95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143000"/>
            <a:ext cx="777240" cy="347472"/>
          </a:xfrm>
          <a:prstGeom prst="rect">
            <a:avLst/>
          </a:prstGeom>
          <a:solidFill>
            <a:srgbClr val="0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1795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143000"/>
            <a:ext cx="777240" cy="347472"/>
          </a:xfrm>
          <a:prstGeom prst="rect">
            <a:avLst/>
          </a:prstGeom>
          <a:solidFill>
            <a:srgbClr val="0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1795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143000"/>
            <a:ext cx="868680" cy="347472"/>
          </a:xfrm>
          <a:prstGeom prst="rect">
            <a:avLst/>
          </a:prstGeom>
          <a:solidFill>
            <a:srgbClr val="0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17957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143000"/>
            <a:ext cx="960120" cy="347472"/>
          </a:xfrm>
          <a:prstGeom prst="rect">
            <a:avLst/>
          </a:prstGeom>
          <a:solidFill>
            <a:srgbClr val="0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1795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27048"/>
            <a:ext cx="160020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5636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Jitter (ms)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527048"/>
            <a:ext cx="77724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39" y="15636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30.92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527048"/>
            <a:ext cx="77724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5636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22.18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527048"/>
            <a:ext cx="86868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156362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28.0%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527048"/>
            <a:ext cx="96012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5636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Calibri"/>
              </a:rPr>
              <a:t>✅ Good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911095"/>
            <a:ext cx="1600200" cy="347472"/>
          </a:xfrm>
          <a:prstGeom prst="rect">
            <a:avLst/>
          </a:prstGeom>
          <a:solidFill>
            <a:srgbClr val="0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47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Packet Loss (%)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1911095"/>
            <a:ext cx="777240" cy="347472"/>
          </a:xfrm>
          <a:prstGeom prst="rect">
            <a:avLst/>
          </a:prstGeom>
          <a:solidFill>
            <a:srgbClr val="0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39" y="19476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2.13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1911095"/>
            <a:ext cx="777240" cy="347472"/>
          </a:xfrm>
          <a:prstGeom prst="rect">
            <a:avLst/>
          </a:prstGeom>
          <a:solidFill>
            <a:srgbClr val="0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19476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1.36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1911095"/>
            <a:ext cx="868680" cy="347472"/>
          </a:xfrm>
          <a:prstGeom prst="rect">
            <a:avLst/>
          </a:prstGeom>
          <a:solidFill>
            <a:srgbClr val="0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  <a:latin typeface="Calibri"/>
              </a:rPr>
              <a:t>High*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911095"/>
            <a:ext cx="960120" cy="347472"/>
          </a:xfrm>
          <a:prstGeom prst="rect">
            <a:avLst/>
          </a:prstGeom>
          <a:solidFill>
            <a:srgbClr val="0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19476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Calibri"/>
              </a:rPr>
              <a:t>✅ RMSE Good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295144"/>
            <a:ext cx="160020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3317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Latency (ms)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295144"/>
            <a:ext cx="77724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39" y="23317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20.05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2295144"/>
            <a:ext cx="77724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23317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15.44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2295144"/>
            <a:ext cx="86868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2331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9.6%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2295144"/>
            <a:ext cx="960120" cy="347472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23317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Calibri"/>
              </a:rPr>
              <a:t>✅ Excellent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2514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8"/>
                </a:solidFill>
                <a:latin typeface="Calibri"/>
              </a:rPr>
              <a:t>* MAPE is unreliable when actual values are near zero (e.g. 0.1% loss). RMSE/MAE are the valid indicators for packet loss.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26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Anomaly Detection Performance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310128"/>
            <a:ext cx="2651760" cy="1463040"/>
          </a:xfrm>
          <a:prstGeom prst="rect">
            <a:avLst/>
          </a:prstGeom>
          <a:solidFill>
            <a:srgbClr val="0A3D62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3364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D166"/>
                </a:solidFill>
                <a:latin typeface="Calibri"/>
              </a:rPr>
              <a:t>0.83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840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83% of spike alerts are REAL
— very few false alarms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6120" y="3310128"/>
            <a:ext cx="2651760" cy="1463040"/>
          </a:xfrm>
          <a:prstGeom prst="rect">
            <a:avLst/>
          </a:prstGeom>
          <a:solidFill>
            <a:srgbClr val="0A3D62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Recall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3364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6D6A0"/>
                </a:solidFill>
                <a:latin typeface="Calibri"/>
              </a:rPr>
              <a:t>0.89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3840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89% of real spikes CAUGHT
— very few missed spikes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749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What this means: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1143000"/>
            <a:ext cx="2743200" cy="1188720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2 hrs ahead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167335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Model warns NOC
before spike hits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468880"/>
            <a:ext cx="2743200" cy="11887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2560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5 detectors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299923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Multiple methods
reduce missed spikes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3794760"/>
            <a:ext cx="2743200" cy="1188720"/>
          </a:xfrm>
          <a:prstGeom prst="rect">
            <a:avLst/>
          </a:prstGeom>
          <a:solidFill>
            <a:srgbClr val="0A3D6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3886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Auto 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432511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Loop closes itself
no manual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Work Done &amp; Plan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Calibri"/>
              </a:rPr>
              <a:t>Progress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✅ 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MS Teams Graph API mock — exact Graph API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Apache NiFi orchestration — 5-minute trigger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025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Prometheus time-series store — 14-day history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Data pipeline — cleaning, MinMaxScaler, 3D reshaping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620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CNN-LSTM with Attention — input 576×3, output 24×3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3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All 5 spike detectors — Z-Score, IQR, IF, Rolling, Ruptures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216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Warning → Alerting → OK alert system with deduplication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Redis forecast storage — key: teams_host_jll_forecast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811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Grafana Prometheus exposition format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7498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🔜 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246120" cy="804672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1978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27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Full 50-epoch training on 14 days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1978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B4D8"/>
                </a:solidFill>
                <a:latin typeface="Calibri"/>
              </a:rPr>
              <a:t>Apr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057400"/>
            <a:ext cx="3246120" cy="804672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12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Real-Time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441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Live spike vs forecasted comparison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12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B4D8"/>
                </a:solidFill>
                <a:latin typeface="Calibri"/>
              </a:rPr>
              <a:t>Apr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971800"/>
            <a:ext cx="3246120" cy="804672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026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Multi-Host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355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Extend to multiple Teams tenants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026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B4D8"/>
                </a:solidFill>
                <a:latin typeface="Calibri"/>
              </a:rPr>
              <a:t>May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3886200"/>
            <a:ext cx="3246120" cy="804672"/>
          </a:xfrm>
          <a:prstGeom prst="rect">
            <a:avLst/>
          </a:prstGeom>
          <a:solidFill>
            <a:srgbClr val="0A3D6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94106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Final Viva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270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  <a:latin typeface="Calibri"/>
              </a:rPr>
              <a:t>Results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941063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B4D8"/>
                </a:solidFill>
                <a:latin typeface="Calibri"/>
              </a:rPr>
              <a:t>Sep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AE9FF"/>
                </a:solidFill>
                <a:latin typeface="Calibri"/>
              </a:rPr>
              <a:t>From Reactive to Proactive Network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810512"/>
            <a:ext cx="256032" cy="25603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End-to-End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64792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MS Teams → NiFi → Prometheus → CNN-LSTM → Redis → Alerts → Grafana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2359152"/>
            <a:ext cx="256032" cy="25603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Proactive Alerting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13432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Warning fires 2 hours before spike. Alerting confirms. OK closes loop.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" y="2907791"/>
            <a:ext cx="256032" cy="25603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6207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5-Method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62071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Z-Score, IQR, Isolation Forest, Rolling Stats, Ruptures run in parallel.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3456432"/>
            <a:ext cx="256032" cy="256032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1071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C4D8"/>
                </a:solidFill>
                <a:latin typeface="Calibri"/>
              </a:rPr>
              <a:t>Mock Data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10711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 MS Teams Graph API schema. Mock used due to enterprise licence cost.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" y="4005072"/>
            <a:ext cx="256032" cy="256032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593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Calibri"/>
              </a:rPr>
              <a:t>Model 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959352"/>
            <a:ext cx="5989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Precision 0.83 · Recall 0.89 · Latency RMSE 20ms · Jitter RMSE 30ms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8229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  <a:latin typeface="Calibri"/>
              </a:rPr>
              <a:t>Future Scope:  Multi-host expansion  ·  Automated remediation  ·  Explainable AI for root cause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9194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